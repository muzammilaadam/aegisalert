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420" r:id="rId3"/>
    <p:sldId id="338" r:id="rId4"/>
    <p:sldId id="345" r:id="rId5"/>
    <p:sldId id="426" r:id="rId6"/>
    <p:sldId id="346" r:id="rId7"/>
    <p:sldId id="427" r:id="rId8"/>
    <p:sldId id="428" r:id="rId9"/>
    <p:sldId id="429" r:id="rId10"/>
    <p:sldId id="430" r:id="rId11"/>
    <p:sldId id="431" r:id="rId12"/>
    <p:sldId id="432" r:id="rId13"/>
    <p:sldId id="433" r:id="rId14"/>
    <p:sldId id="42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44" userDrawn="1">
          <p15:clr>
            <a:srgbClr val="A4A3A4"/>
          </p15:clr>
        </p15:guide>
        <p15:guide id="2" pos="29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howGuides="1">
      <p:cViewPr>
        <p:scale>
          <a:sx n="70" d="100"/>
          <a:sy n="70" d="100"/>
        </p:scale>
        <p:origin x="-1824" y="-365"/>
      </p:cViewPr>
      <p:guideLst>
        <p:guide orient="horz" pos="2144"/>
        <p:guide pos="29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B73439-0F5C-482F-99DC-B5851050597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92802-9668-40D7-9766-05E02077E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6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BC80E-12C8-42BB-A22F-817B627F9F1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0BB8D-7073-47CB-8BBD-CBA5B0B2E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71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22C4ED-0D4D-44A1-8A1E-7ECA96DEC83C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F0BB8D-7073-47CB-8BBD-CBA5B0B2E78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F0BB8D-7073-47CB-8BBD-CBA5B0B2E78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F0BB8D-7073-47CB-8BBD-CBA5B0B2E780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E3F5B-61ED-4E21-B0AE-28226E8E0461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6018-0AC1-42DA-831F-DAE116085634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36B96-17B5-46BB-AE12-83768C042E8C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0C4D8-DCAA-41C4-8196-C54106A7F583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78F49-1934-4D12-8068-71B5007BC4AA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F6DE-B3BA-4BC6-920C-0E22CD92EF4F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FD409-461F-47EC-A181-55DE2C1F6CC0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C7A8-8426-4E54-9F60-C469B0FDB7A9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4C1B2-C191-40C5-8D31-214DB5042C4E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DDCFA-ABA0-4441-8517-B06E0FD32CA3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DE99C-8D9E-4F16-A2B6-B5368A465F46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24E4-4418-448F-BED5-1FDAE1820D3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BBAE-8C2A-4605-AE0E-40AA8A2B9D1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03B7-F2A0-4916-9913-9CDBD35A56F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BBAE-8C2A-4605-AE0E-40AA8A2B9D1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55EB6-D76C-4BC2-9F89-87B1330374E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BBAE-8C2A-4605-AE0E-40AA8A2B9D1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DAD9-6091-423C-9C8F-BD4699D746A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BBAE-8C2A-4605-AE0E-40AA8A2B9D1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98125-74B1-4E23-9363-87948432AB6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BBAE-8C2A-4605-AE0E-40AA8A2B9D1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DBDDC-0DCB-4333-A0B9-0FAC1B54B18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BBAE-8C2A-4605-AE0E-40AA8A2B9D1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74945-DF27-4D2A-9801-DEC616F16ED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BBAE-8C2A-4605-AE0E-40AA8A2B9D1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61FC0-4E92-4BF6-9145-3958D6E7435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BBAE-8C2A-4605-AE0E-40AA8A2B9D1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0EE3C-077B-4C74-8998-72C248F6546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BBAE-8C2A-4605-AE0E-40AA8A2B9D1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6A4E3-BC80-4F1F-BD65-8B7B452F796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BBAE-8C2A-4605-AE0E-40AA8A2B9D1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2C8DB-88DC-414F-8280-E8E68240CA5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EBBAE-8C2A-4605-AE0E-40AA8A2B9D1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E97D7-530F-4DF9-AA08-666C04FD2FFF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296370C6-1FCC-49A6-A255-EA3C01242F6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3/4/2026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666EBBAE-8C2A-4605-AE0E-40AA8A2B9D18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ns3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014" y="457200"/>
            <a:ext cx="7772400" cy="2514600"/>
          </a:xfrm>
        </p:spPr>
        <p:txBody>
          <a:bodyPr>
            <a:noAutofit/>
          </a:bodyPr>
          <a:lstStyle/>
          <a:p>
            <a:r>
              <a:rPr lang="en-US" sz="2200" b="1" dirty="0" smtClean="0"/>
              <a:t/>
            </a:r>
            <a:br>
              <a:rPr lang="en-US" sz="2200" b="1" dirty="0" smtClean="0"/>
            </a:b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1600" b="1" dirty="0" smtClean="0"/>
              <a:t>A </a:t>
            </a:r>
            <a:r>
              <a:rPr lang="en-US" sz="1600" b="1" dirty="0" smtClean="0"/>
              <a:t>PRESENTATION </a:t>
            </a:r>
            <a:br>
              <a:rPr lang="en-US" sz="1600" b="1" dirty="0" smtClean="0"/>
            </a:br>
            <a:r>
              <a:rPr lang="en-US" sz="1600" b="1" dirty="0" smtClean="0"/>
              <a:t>ON</a:t>
            </a:r>
            <a:br>
              <a:rPr lang="en-US" sz="1600" b="1" dirty="0" smtClean="0"/>
            </a:br>
            <a:r>
              <a:rPr lang="en-US" sz="1600" b="1" dirty="0" smtClean="0"/>
              <a:t>“NATURAL DISASTER PREDICTION SYSTEM”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Submitted for the fulfillment of Mini-Project-Phase-II BE-CSE(III), 2026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b="1" dirty="0" smtClean="0"/>
              <a:t>A. G. </a:t>
            </a:r>
            <a:r>
              <a:rPr lang="en-US" sz="1600" b="1" dirty="0" err="1" smtClean="0"/>
              <a:t>Patil</a:t>
            </a:r>
            <a:r>
              <a:rPr lang="en-US" sz="1600" b="1" dirty="0" smtClean="0"/>
              <a:t> Institute of Technology, </a:t>
            </a:r>
            <a:r>
              <a:rPr lang="en-US" sz="1600" b="1" dirty="0" err="1" smtClean="0"/>
              <a:t>Solapur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b="1" dirty="0" smtClean="0"/>
              <a:t>by</a:t>
            </a:r>
            <a:r>
              <a:rPr lang="en-IN" sz="1600" b="1" dirty="0" smtClean="0"/>
              <a:t/>
            </a:r>
            <a:br>
              <a:rPr lang="en-IN" sz="1600" b="1" dirty="0" smtClean="0"/>
            </a:br>
            <a:r>
              <a:rPr lang="en-US" sz="1600" b="1" dirty="0" smtClean="0"/>
              <a:t>PROJECT TEAM</a:t>
            </a:r>
            <a:br>
              <a:rPr lang="en-US" sz="1600" b="1" dirty="0" smtClean="0"/>
            </a:br>
            <a:r>
              <a:rPr lang="en-US" sz="1600" b="1" dirty="0" smtClean="0"/>
              <a:t>(Team Leader)</a:t>
            </a:r>
            <a:br>
              <a:rPr lang="en-US" sz="1600" b="1" dirty="0" smtClean="0"/>
            </a:br>
            <a:r>
              <a:rPr lang="en-US" sz="1600" b="1" dirty="0" smtClean="0"/>
              <a:t>(Team Members)</a:t>
            </a:r>
            <a:r>
              <a:rPr lang="en-IN" sz="1600" b="1" dirty="0" smtClean="0"/>
              <a:t/>
            </a:r>
            <a:br>
              <a:rPr lang="en-IN" sz="1600" b="1" dirty="0" smtClean="0"/>
            </a:b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IN" sz="2400" b="1" dirty="0" smtClean="0"/>
              <a:t/>
            </a:r>
            <a:br>
              <a:rPr lang="en-IN" sz="2400" b="1" dirty="0" smtClean="0"/>
            </a:br>
            <a:endParaRPr lang="en-IN" sz="2400" dirty="0"/>
          </a:p>
        </p:txBody>
      </p:sp>
      <p:sp>
        <p:nvSpPr>
          <p:cNvPr id="5" name="Subtitle 2"/>
          <p:cNvSpPr txBox="1"/>
          <p:nvPr/>
        </p:nvSpPr>
        <p:spPr>
          <a:xfrm>
            <a:off x="2363601" y="5072743"/>
            <a:ext cx="4415226" cy="129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 smtClean="0">
                <a:solidFill>
                  <a:schemeClr val="tx1"/>
                </a:solidFill>
              </a:rPr>
              <a:t>Project Co-Ordinator</a:t>
            </a:r>
          </a:p>
          <a:p>
            <a:r>
              <a:rPr lang="en-IN" sz="1600" b="1" dirty="0" smtClean="0">
                <a:solidFill>
                  <a:schemeClr val="tx1"/>
                </a:solidFill>
              </a:rPr>
              <a:t> Prof. A. P. </a:t>
            </a:r>
            <a:r>
              <a:rPr lang="en-IN" sz="1600" b="1" dirty="0" err="1" smtClean="0">
                <a:solidFill>
                  <a:schemeClr val="tx1"/>
                </a:solidFill>
              </a:rPr>
              <a:t>Hosale</a:t>
            </a:r>
            <a:endParaRPr lang="en-IN" sz="1600" b="1" dirty="0" smtClean="0">
              <a:solidFill>
                <a:schemeClr val="tx1"/>
              </a:solidFill>
            </a:endParaRPr>
          </a:p>
          <a:p>
            <a:r>
              <a:rPr lang="en-IN" sz="1600" b="1" dirty="0" smtClean="0">
                <a:solidFill>
                  <a:schemeClr val="tx1"/>
                </a:solidFill>
              </a:rPr>
              <a:t>(Computer Engineering) </a:t>
            </a:r>
            <a:endParaRPr lang="en-IN" sz="1600" b="1" dirty="0">
              <a:solidFill>
                <a:schemeClr val="tx1"/>
              </a:solidFill>
            </a:endParaRPr>
          </a:p>
          <a:p>
            <a:r>
              <a:rPr lang="en-IN" sz="1600" dirty="0" smtClean="0">
                <a:solidFill>
                  <a:schemeClr val="tx1"/>
                </a:solidFill>
              </a:rPr>
              <a:t>A. G. </a:t>
            </a:r>
            <a:r>
              <a:rPr lang="en-IN" sz="1600" dirty="0" err="1" smtClean="0">
                <a:solidFill>
                  <a:schemeClr val="tx1"/>
                </a:solidFill>
              </a:rPr>
              <a:t>Patil</a:t>
            </a:r>
            <a:r>
              <a:rPr lang="en-IN" sz="1600" dirty="0" smtClean="0">
                <a:solidFill>
                  <a:schemeClr val="tx1"/>
                </a:solidFill>
              </a:rPr>
              <a:t> Institute of Technology, </a:t>
            </a:r>
            <a:r>
              <a:rPr lang="en-IN" sz="1600" dirty="0" err="1" smtClean="0">
                <a:solidFill>
                  <a:schemeClr val="tx1"/>
                </a:solidFill>
              </a:rPr>
              <a:t>Solapur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86824" y="4539734"/>
            <a:ext cx="2353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Under the </a:t>
            </a:r>
            <a:r>
              <a:rPr lang="en-IN" b="1" dirty="0" smtClean="0"/>
              <a:t>Guidance of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4114800" y="6316639"/>
            <a:ext cx="1431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2026, </a:t>
            </a:r>
            <a:r>
              <a:rPr lang="en-US" b="1" dirty="0" smtClean="0"/>
              <a:t>May</a:t>
            </a:r>
            <a:r>
              <a:rPr lang="en-IN" b="1" dirty="0" smtClean="0"/>
              <a:t> </a:t>
            </a:r>
            <a:endParaRPr lang="en-IN" b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966896" y="64265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t>1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3714750" y="2746248"/>
            <a:ext cx="1543050" cy="15361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ns3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546" y="6379724"/>
            <a:ext cx="2237295" cy="35722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AGPIT, SOLAPUR</a:t>
            </a:r>
            <a:endParaRPr lang="en-IN" sz="12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90185"/>
            <a:ext cx="9144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0" y="6608189"/>
            <a:ext cx="9144000" cy="147391"/>
          </a:xfrm>
          <a:prstGeom prst="rect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8900" y="6436046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45868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2384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805" y="194271"/>
            <a:ext cx="31943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IN" sz="2600" b="1" dirty="0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CONTENTS</a:t>
            </a:r>
          </a:p>
        </p:txBody>
      </p:sp>
      <p:sp>
        <p:nvSpPr>
          <p:cNvPr id="20" name="Title 19"/>
          <p:cNvSpPr>
            <a:spLocks noGrp="1"/>
          </p:cNvSpPr>
          <p:nvPr>
            <p:ph type="ctrTitle"/>
          </p:nvPr>
        </p:nvSpPr>
        <p:spPr>
          <a:xfrm>
            <a:off x="381000" y="1600200"/>
            <a:ext cx="7301865" cy="416433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BJECTIVES</a:t>
            </a:r>
            <a:b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EXISTING SYSTEM</a:t>
            </a: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METHODOLOGIES</a:t>
            </a:r>
            <a:b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APPLICATIONS</a:t>
            </a:r>
            <a: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1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b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b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LIMITATIONS</a:t>
            </a:r>
            <a:endParaRPr lang="en-IN" sz="2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086600" y="6316759"/>
            <a:ext cx="2057400" cy="365125"/>
          </a:xfrm>
        </p:spPr>
        <p:txBody>
          <a:bodyPr/>
          <a:lstStyle/>
          <a:p>
            <a:fld id="{666EBBAE-8C2A-4605-AE0E-40AA8A2B9D18}" type="slidenum">
              <a:rPr lang="en-IN" smtClean="0">
                <a:solidFill>
                  <a:schemeClr val="bg1"/>
                </a:solidFill>
              </a:rPr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8316223" y="10886"/>
            <a:ext cx="612321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ns3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546" y="6379724"/>
            <a:ext cx="2237295" cy="35722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AGPIT, SOLAPUR</a:t>
            </a:r>
            <a:endParaRPr lang="en-IN" sz="12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90185"/>
            <a:ext cx="9144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0" y="6608189"/>
            <a:ext cx="9144000" cy="147391"/>
          </a:xfrm>
          <a:prstGeom prst="rect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8900" y="6436046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45868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2384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805" y="194271"/>
            <a:ext cx="5508395" cy="414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dirty="0" smtClean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</a:rPr>
              <a:t>PROBLEM STATEMENT</a:t>
            </a:r>
            <a:endParaRPr lang="en-US" sz="2100" b="1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086600" y="6331999"/>
            <a:ext cx="2057400" cy="365125"/>
          </a:xfrm>
        </p:spPr>
        <p:txBody>
          <a:bodyPr/>
          <a:lstStyle/>
          <a:p>
            <a:fld id="{666EBBAE-8C2A-4605-AE0E-40AA8A2B9D18}" type="slidenum">
              <a:rPr lang="en-IN" smtClean="0">
                <a:solidFill>
                  <a:schemeClr val="bg1"/>
                </a:solidFill>
              </a:rPr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8316223" y="10886"/>
            <a:ext cx="612321" cy="609600"/>
          </a:xfrm>
          <a:prstGeom prst="rect">
            <a:avLst/>
          </a:prstGeom>
        </p:spPr>
      </p:pic>
      <p:sp>
        <p:nvSpPr>
          <p:cNvPr id="15" name="Project Content"/>
          <p:cNvSpPr txBox="1"/>
          <p:nvPr/>
        </p:nvSpPr>
        <p:spPr>
          <a:xfrm>
            <a:off x="820000" y="12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228600">
              <a:buChar char="?"/>
            </a:pPr>
            <a:r>
              <a:rPr lang="en-US" sz="2200" dirty="0">
                <a:solidFill>
                  <a:srgbClr val="1F2937"/>
                </a:solidFill>
              </a:rPr>
              <a:t>Manual disaster monitoring is slow, fragmented, and often reactive.</a:t>
            </a:r>
            <a:endParaRPr lang="en-US" sz="2200" dirty="0"/>
          </a:p>
          <a:p>
            <a:pPr marL="285750" indent="-228600">
              <a:buChar char="?"/>
            </a:pPr>
            <a:r>
              <a:rPr lang="en-US" sz="2200" dirty="0">
                <a:solidFill>
                  <a:srgbClr val="1F2937"/>
                </a:solidFill>
              </a:rPr>
              <a:t>Weather, rainfall, sea-level, soil, and seismic indicators are not combined in one student-friendly prediction system.</a:t>
            </a:r>
            <a:endParaRPr lang="en-US" sz="2200" dirty="0"/>
          </a:p>
          <a:p>
            <a:pPr marL="285750" indent="-228600">
              <a:buChar char="?"/>
            </a:pPr>
            <a:r>
              <a:rPr lang="en-US" sz="2200" dirty="0">
                <a:solidFill>
                  <a:srgbClr val="1F2937"/>
                </a:solidFill>
              </a:rPr>
              <a:t>Citizens and administrators need quick risk probability, disaster type, trend history, and alert support for a selected city.</a:t>
            </a:r>
            <a:endParaRPr lang="en-US" sz="2200" dirty="0"/>
          </a:p>
          <a:p>
            <a:pPr marL="285750" indent="-228600">
              <a:buChar char="?"/>
            </a:pPr>
            <a:r>
              <a:rPr lang="en-US" sz="2200" dirty="0">
                <a:solidFill>
                  <a:srgbClr val="1F2937"/>
                </a:solidFill>
              </a:rPr>
              <a:t>The project addresses this by predicting disaster probability from environmental indicators and presenting clear precautions.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ns3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546" y="6379724"/>
            <a:ext cx="2237295" cy="35722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AGPIT, SOLAPUR</a:t>
            </a:r>
            <a:endParaRPr lang="en-IN" sz="12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90185"/>
            <a:ext cx="9144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0" y="6608189"/>
            <a:ext cx="9144000" cy="147391"/>
          </a:xfrm>
          <a:prstGeom prst="rect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8900" y="6436046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45868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2384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805" y="194271"/>
            <a:ext cx="5508395" cy="414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dirty="0" smtClean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</a:rPr>
              <a:t>OBJECTIVES</a:t>
            </a:r>
            <a:endParaRPr lang="en-US" sz="2100" b="1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086600" y="6331999"/>
            <a:ext cx="2057400" cy="365125"/>
          </a:xfrm>
        </p:spPr>
        <p:txBody>
          <a:bodyPr/>
          <a:lstStyle/>
          <a:p>
            <a:fld id="{666EBBAE-8C2A-4605-AE0E-40AA8A2B9D18}" type="slidenum">
              <a:rPr lang="en-IN" smtClean="0">
                <a:solidFill>
                  <a:schemeClr val="bg1"/>
                </a:solidFill>
              </a:rPr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8316223" y="10886"/>
            <a:ext cx="612321" cy="609600"/>
          </a:xfrm>
          <a:prstGeom prst="rect">
            <a:avLst/>
          </a:prstGeom>
        </p:spPr>
      </p:pic>
      <p:sp>
        <p:nvSpPr>
          <p:cNvPr id="15" name="Project Content"/>
          <p:cNvSpPr txBox="1"/>
          <p:nvPr/>
        </p:nvSpPr>
        <p:spPr>
          <a:xfrm>
            <a:off x="820000" y="12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Build a web dashboard that predicts natural disaster risk for a city, defaulting to Solapur.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Use an ML service to classify possible hazards such as flood, cyclone, heatwave, earthquake, or none.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Show live weather indicators, environmental values, risk level, and probability trend charts.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Store prediction history using MongoDB, with in-memory fallback when the database is unavailable.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Send email alerts to registered city users when predicted risk crosses 70%.</a:t>
            </a:r>
            <a:endParaRPr lang="en-US" sz="2100" dirty="0"/>
          </a:p>
        </p:txBody>
      </p:sp>
    </p:spTree>
    <p:extLst>
      <p:ext uri="{BB962C8B-B14F-4D97-AF65-F5344CB8AC3E}">
        <ns4:creationId val="361778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ns3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546" y="6379724"/>
            <a:ext cx="2237295" cy="35722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AGPIT, SOLAPUR</a:t>
            </a:r>
            <a:endParaRPr lang="en-IN" sz="12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90185"/>
            <a:ext cx="9144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0" y="6608189"/>
            <a:ext cx="9144000" cy="147391"/>
          </a:xfrm>
          <a:prstGeom prst="rect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8900" y="6436046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45868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2384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805" y="194271"/>
            <a:ext cx="31943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IN" sz="26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805" y="194271"/>
            <a:ext cx="3194355" cy="414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dirty="0" smtClean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</a:rPr>
              <a:t>EXISTING SYSTEM</a:t>
            </a:r>
            <a:endParaRPr lang="en-US" sz="2100" b="1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086600" y="6319470"/>
            <a:ext cx="2057400" cy="365125"/>
          </a:xfrm>
        </p:spPr>
        <p:txBody>
          <a:bodyPr/>
          <a:lstStyle/>
          <a:p>
            <a:fld id="{666EBBAE-8C2A-4605-AE0E-40AA8A2B9D18}" type="slidenum">
              <a:rPr lang="en-IN" smtClean="0">
                <a:solidFill>
                  <a:schemeClr val="bg1"/>
                </a:solidFill>
              </a:rPr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8316223" y="10886"/>
            <a:ext cx="612321" cy="609600"/>
          </a:xfrm>
          <a:prstGeom prst="rect">
            <a:avLst/>
          </a:prstGeom>
        </p:spPr>
      </p:pic>
      <p:sp>
        <p:nvSpPr>
          <p:cNvPr id="24" name="Project Content"/>
          <p:cNvSpPr txBox="1"/>
          <p:nvPr/>
        </p:nvSpPr>
        <p:spPr>
          <a:xfrm>
            <a:off x="820000" y="12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228600">
              <a:buChar char="?"/>
            </a:pPr>
            <a:r>
              <a:rPr lang="en-US" sz="2200" dirty="0">
                <a:solidFill>
                  <a:srgbClr val="1F2937"/>
                </a:solidFill>
              </a:rPr>
              <a:t>Conventional systems depend mainly on official bulletins, manual observation, or single-source weather alerts.</a:t>
            </a:r>
            <a:endParaRPr lang="en-US" sz="2200" dirty="0"/>
          </a:p>
          <a:p>
            <a:pPr marL="285750" indent="-228600">
              <a:buChar char="?"/>
            </a:pPr>
            <a:r>
              <a:rPr lang="en-US" sz="2200" dirty="0">
                <a:solidFill>
                  <a:srgbClr val="1F2937"/>
                </a:solidFill>
              </a:rPr>
              <a:t>Many solutions focus on one disaster type and do not combine weather, environmental, and seismic features.</a:t>
            </a:r>
            <a:endParaRPr lang="en-US" sz="2200" dirty="0"/>
          </a:p>
          <a:p>
            <a:pPr marL="285750" indent="-228600">
              <a:buChar char="?"/>
            </a:pPr>
            <a:r>
              <a:rPr lang="en-US" sz="2200" dirty="0">
                <a:solidFill>
                  <a:srgbClr val="1F2937"/>
                </a:solidFill>
              </a:rPr>
              <a:t>Historical prediction records and city-specific user alerts are often missing in basic monitoring tools.</a:t>
            </a:r>
            <a:endParaRPr lang="en-US" sz="2200" dirty="0"/>
          </a:p>
          <a:p>
            <a:pPr marL="285750" indent="-228600">
              <a:buChar char="?"/>
            </a:pPr>
            <a:r>
              <a:rPr lang="en-US" sz="2200" dirty="0">
                <a:solidFill>
                  <a:srgbClr val="1F2937"/>
                </a:solidFill>
              </a:rPr>
              <a:t>Existing approaches may not provide an integrated dashboard for visualization, precautions, and automated notification.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ns3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546" y="6379724"/>
            <a:ext cx="2237295" cy="35722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AGPIT, SOLAPUR</a:t>
            </a:r>
            <a:endParaRPr lang="en-IN" sz="12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90185"/>
            <a:ext cx="9144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0" y="6608189"/>
            <a:ext cx="9144000" cy="147391"/>
          </a:xfrm>
          <a:prstGeom prst="rect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8900" y="6436046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45868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2384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805" y="194271"/>
            <a:ext cx="31943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IN" sz="26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805" y="194271"/>
            <a:ext cx="3194355" cy="43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dirty="0" smtClean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</a:rPr>
              <a:t>PROPOSED SYSTEM</a:t>
            </a:r>
            <a:endParaRPr lang="en-US" sz="2100" b="1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086600" y="6319470"/>
            <a:ext cx="2057400" cy="365125"/>
          </a:xfrm>
        </p:spPr>
        <p:txBody>
          <a:bodyPr/>
          <a:lstStyle/>
          <a:p>
            <a:fld id="{666EBBAE-8C2A-4605-AE0E-40AA8A2B9D18}" type="slidenum">
              <a:rPr lang="en-IN" smtClean="0">
                <a:solidFill>
                  <a:schemeClr val="bg1"/>
                </a:solidFill>
              </a:rPr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8316223" y="10886"/>
            <a:ext cx="612321" cy="609600"/>
          </a:xfrm>
          <a:prstGeom prst="rect">
            <a:avLst/>
          </a:prstGeom>
        </p:spPr>
      </p:pic>
      <p:sp>
        <p:nvSpPr>
          <p:cNvPr id="24" name="Project Content"/>
          <p:cNvSpPr txBox="1"/>
          <p:nvPr/>
        </p:nvSpPr>
        <p:spPr>
          <a:xfrm>
            <a:off x="820000" y="12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A full-stack Natural Disaster Prediction System with React frontend, Express backend, and FastAPI ML service.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Backend fetches weather data, enriches it with environmental indicators, and sends it to the trained ML model.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RandomForest classifier returns disaster probability, predicted type, and class-wise probabilities.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Dashboard displays risk cards, city search, current metrics, historical trends, and precaution suggestions.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High-risk predictions trigger alert emails to subscribed users for the affected city.</a:t>
            </a:r>
            <a:endParaRPr lang="en-US" sz="2100" dirty="0"/>
          </a:p>
        </p:txBody>
      </p:sp>
    </p:spTree>
    <p:extLst>
      <p:ext uri="{BB962C8B-B14F-4D97-AF65-F5344CB8AC3E}">
        <ns4:creationId val="61961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ns3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546" y="6379724"/>
            <a:ext cx="2237295" cy="35722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AGPIT, SOLAPUR</a:t>
            </a:r>
            <a:endParaRPr lang="en-IN" sz="12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90185"/>
            <a:ext cx="9144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0" y="6608189"/>
            <a:ext cx="9144000" cy="147391"/>
          </a:xfrm>
          <a:prstGeom prst="rect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8900" y="6436046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45868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2384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805" y="194271"/>
            <a:ext cx="31943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IN" sz="26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805" y="194271"/>
            <a:ext cx="5051195" cy="414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dirty="0" smtClean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</a:rPr>
              <a:t>SYSTEM </a:t>
            </a:r>
            <a:r>
              <a:rPr lang="en-US" sz="2100" b="1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en-US" sz="2100" b="1" dirty="0" smtClean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</a:rPr>
              <a:t>RCHITECTURE</a:t>
            </a:r>
            <a:endParaRPr lang="en-US" sz="2100" b="1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086600" y="6319470"/>
            <a:ext cx="2057400" cy="365125"/>
          </a:xfrm>
        </p:spPr>
        <p:txBody>
          <a:bodyPr/>
          <a:lstStyle/>
          <a:p>
            <a:fld id="{666EBBAE-8C2A-4605-AE0E-40AA8A2B9D18}" type="slidenum">
              <a:rPr lang="en-IN" smtClean="0">
                <a:solidFill>
                  <a:schemeClr val="bg1"/>
                </a:solidFill>
              </a:rPr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8316223" y="10886"/>
            <a:ext cx="612321" cy="609600"/>
          </a:xfrm>
          <a:prstGeom prst="rect">
            <a:avLst/>
          </a:prstGeom>
        </p:spPr>
      </p:pic>
      <p:sp>
        <p:nvSpPr>
          <p:cNvPr id="24" name="Project Content"/>
          <p:cNvSpPr txBox="1"/>
          <p:nvPr/>
        </p:nvSpPr>
        <p:spPr>
          <a:xfrm>
            <a:off x="820000" y="12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User selects city in React dashboard.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Express API receives request and normalizes city name.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Weather service collects live or fallback weather values.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Environmental indicators are added: sea-level anomaly, soil moisture, seismic index, tectonic stress, earthquake frequency.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FastAPI ML model predicts disaster probability and type.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Prediction is stored and returned to frontend; email service sends alerts when probability is above 70%.</a:t>
            </a:r>
            <a:endParaRPr lang="en-US" sz="2100" dirty="0"/>
          </a:p>
        </p:txBody>
      </p:sp>
      <p:sp>
        <p:nvSpPr>
          <p:cNvPr id="25" name="Architecture Flow"/>
          <p:cNvSpPr txBox="1"/>
          <p:nvPr/>
        </p:nvSpPr>
        <p:spPr>
          <a:xfrm>
            <a:off x="650000" y="5480000"/>
            <a:ext cx="8000000" cy="6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en-US" sz="2000" dirty="0" b="1">
                <a:solidFill>
                  <a:srgbClr val="1F2937"/>
                </a:solidFill>
              </a:rPr>
              <a:t>React Dashboard  -&gt;  Express API  -&gt;  FastAPI ML Model  -&gt;  MongoDB / Email Alerts</a:t>
            </a:r>
            <a:endParaRPr lang="en-US" sz="2000" dirty="0"/>
          </a:p>
        </p:txBody>
      </p:sp>
    </p:spTree>
    <p:extLst>
      <p:ext uri="{BB962C8B-B14F-4D97-AF65-F5344CB8AC3E}">
        <ns4:creationId val="92004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ns3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546" y="6379724"/>
            <a:ext cx="2237295" cy="35722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AGPIT, SOLAPUR</a:t>
            </a:r>
            <a:endParaRPr lang="en-IN" sz="12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90185"/>
            <a:ext cx="9144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0" y="6608189"/>
            <a:ext cx="9144000" cy="147391"/>
          </a:xfrm>
          <a:prstGeom prst="rect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8900" y="6436046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45868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2384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805" y="194271"/>
            <a:ext cx="31943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IN" sz="26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805" y="194271"/>
            <a:ext cx="3194355" cy="414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dirty="0" smtClean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</a:rPr>
              <a:t>TECHNOLOGIES USED</a:t>
            </a:r>
            <a:endParaRPr lang="en-US" sz="2100" b="1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086600" y="6319470"/>
            <a:ext cx="2057400" cy="365125"/>
          </a:xfrm>
        </p:spPr>
        <p:txBody>
          <a:bodyPr/>
          <a:lstStyle/>
          <a:p>
            <a:fld id="{666EBBAE-8C2A-4605-AE0E-40AA8A2B9D18}" type="slidenum">
              <a:rPr lang="en-IN" smtClean="0">
                <a:solidFill>
                  <a:schemeClr val="bg1"/>
                </a:solidFill>
              </a:rPr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8316223" y="10886"/>
            <a:ext cx="612321" cy="609600"/>
          </a:xfrm>
          <a:prstGeom prst="rect">
            <a:avLst/>
          </a:prstGeom>
        </p:spPr>
      </p:pic>
      <p:sp>
        <p:nvSpPr>
          <p:cNvPr id="24" name="Project Content"/>
          <p:cNvSpPr txBox="1"/>
          <p:nvPr/>
        </p:nvSpPr>
        <p:spPr>
          <a:xfrm>
            <a:off x="820000" y="12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Frontend: React 18, Vite, Axios, Recharts, Lucide React icons, responsive CSS dashboard.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Backend: Node.js, Express, CORS, Axios, Dotenv, Mongoose, Nodemailer.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ML Service: Python, FastAPI, Pandas, Scikit-learn, Joblib, Uvicorn.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Database: MongoDB for users, subscribers, and prediction history; memory fallback for local use.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Dataset: Synthetic historical_disasters.csv with weather, environmental, seismic, and disaster labels.</a:t>
            </a:r>
            <a:endParaRPr lang="en-US" sz="2100" dirty="0"/>
          </a:p>
        </p:txBody>
      </p:sp>
    </p:spTree>
    <p:extLst>
      <p:ext uri="{BB962C8B-B14F-4D97-AF65-F5344CB8AC3E}">
        <ns4:creationId val="408046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ns3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546" y="6379724"/>
            <a:ext cx="2237295" cy="35722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AGPIT, SOLAPUR</a:t>
            </a:r>
            <a:endParaRPr lang="en-IN" sz="12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90185"/>
            <a:ext cx="9144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0" y="6608189"/>
            <a:ext cx="9144000" cy="147391"/>
          </a:xfrm>
          <a:prstGeom prst="rect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8900" y="6436046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45868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2384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805" y="194271"/>
            <a:ext cx="31943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IN" sz="26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805" y="194271"/>
            <a:ext cx="3194355" cy="414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dirty="0" smtClean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</a:rPr>
              <a:t>METHODOLOGY</a:t>
            </a:r>
            <a:endParaRPr lang="en-US" sz="2100" b="1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086600" y="6319470"/>
            <a:ext cx="2057400" cy="365125"/>
          </a:xfrm>
        </p:spPr>
        <p:txBody>
          <a:bodyPr/>
          <a:lstStyle/>
          <a:p>
            <a:fld id="{666EBBAE-8C2A-4605-AE0E-40AA8A2B9D18}" type="slidenum">
              <a:rPr lang="en-IN" smtClean="0">
                <a:solidFill>
                  <a:schemeClr val="bg1"/>
                </a:solidFill>
              </a:rPr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8316223" y="10886"/>
            <a:ext cx="612321" cy="609600"/>
          </a:xfrm>
          <a:prstGeom prst="rect">
            <a:avLst/>
          </a:prstGeom>
        </p:spPr>
      </p:pic>
      <p:sp>
        <p:nvSpPr>
          <p:cNvPr id="24" name="Project Content"/>
          <p:cNvSpPr txBox="1"/>
          <p:nvPr/>
        </p:nvSpPr>
        <p:spPr>
          <a:xfrm>
            <a:off x="820000" y="12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Collected and structured sample historical disaster records with 10 numeric input features.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Trained a RandomForestClassifier using a Scikit-learn pipeline and saved it as model.joblib.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Created FastAPI /predict endpoint that validates inputs and returns probability values.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Integrated Express API with weather retrieval, environmental enrichment, prediction storage, and alert logic.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Built React dashboard to search cities, display metrics, draw trend charts, and show precautions.</a:t>
            </a:r>
            <a:endParaRPr lang="en-US" sz="2100" dirty="0"/>
          </a:p>
        </p:txBody>
      </p:sp>
    </p:spTree>
    <p:extLst>
      <p:ext uri="{BB962C8B-B14F-4D97-AF65-F5344CB8AC3E}">
        <ns4:creationId val="185194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ns3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546" y="6379724"/>
            <a:ext cx="2237295" cy="35722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AGPIT, SOLAPUR</a:t>
            </a:r>
            <a:endParaRPr lang="en-IN" sz="12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90185"/>
            <a:ext cx="9144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0" y="6608189"/>
            <a:ext cx="9144000" cy="147391"/>
          </a:xfrm>
          <a:prstGeom prst="rect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8900" y="6436046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45868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2384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805" y="194271"/>
            <a:ext cx="31943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IN" sz="26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805" y="194271"/>
            <a:ext cx="3194355" cy="414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dirty="0" smtClean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</a:rPr>
              <a:t>APPLICATIONS</a:t>
            </a:r>
            <a:endParaRPr lang="en-US" sz="2100" b="1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086600" y="6319470"/>
            <a:ext cx="2057400" cy="365125"/>
          </a:xfrm>
        </p:spPr>
        <p:txBody>
          <a:bodyPr/>
          <a:lstStyle/>
          <a:p>
            <a:fld id="{666EBBAE-8C2A-4605-AE0E-40AA8A2B9D18}" type="slidenum">
              <a:rPr lang="en-IN" smtClean="0">
                <a:solidFill>
                  <a:schemeClr val="bg1"/>
                </a:solidFill>
              </a:rPr>
              <a:t>10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8316223" y="10886"/>
            <a:ext cx="612321" cy="609600"/>
          </a:xfrm>
          <a:prstGeom prst="rect">
            <a:avLst/>
          </a:prstGeom>
        </p:spPr>
      </p:pic>
      <p:sp>
        <p:nvSpPr>
          <p:cNvPr id="24" name="Project Content"/>
          <p:cNvSpPr txBox="1"/>
          <p:nvPr/>
        </p:nvSpPr>
        <p:spPr>
          <a:xfrm>
            <a:off x="820000" y="12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Early warning support for city-level disaster monitoring.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Academic demonstration of machine learning integration in a full-stack application.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Risk dashboard for local administration, emergency response teams, and public awareness programs.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Weather and environmental analytics prototype for smart-city or civic safety systems.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Foundation for future integration with verified regional datasets and official alert channels.</a:t>
            </a:r>
            <a:endParaRPr lang="en-US" sz="2100" dirty="0"/>
          </a:p>
        </p:txBody>
      </p:sp>
    </p:spTree>
    <p:extLst>
      <p:ext uri="{BB962C8B-B14F-4D97-AF65-F5344CB8AC3E}">
        <ns4:creationId val="148708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ns3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546" y="6379724"/>
            <a:ext cx="2237295" cy="35722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AGPIT, SOLAPUR</a:t>
            </a:r>
            <a:endParaRPr lang="en-IN" sz="12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90185"/>
            <a:ext cx="9144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0" y="6608189"/>
            <a:ext cx="9144000" cy="147391"/>
          </a:xfrm>
          <a:prstGeom prst="rect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8900" y="6436046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45868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2384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805" y="194271"/>
            <a:ext cx="31943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IN" sz="26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805" y="194271"/>
            <a:ext cx="3194355" cy="414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dirty="0" smtClean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</a:rPr>
              <a:t>ADVANTAGES</a:t>
            </a:r>
            <a:endParaRPr lang="en-US" sz="2100" b="1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086600" y="6319470"/>
            <a:ext cx="2057400" cy="365125"/>
          </a:xfrm>
        </p:spPr>
        <p:txBody>
          <a:bodyPr/>
          <a:lstStyle/>
          <a:p>
            <a:fld id="{666EBBAE-8C2A-4605-AE0E-40AA8A2B9D18}" type="slidenum">
              <a:rPr lang="en-IN" smtClean="0">
                <a:solidFill>
                  <a:schemeClr val="bg1"/>
                </a:solidFill>
              </a:rPr>
              <a:t>11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8316223" y="10886"/>
            <a:ext cx="612321" cy="609600"/>
          </a:xfrm>
          <a:prstGeom prst="rect">
            <a:avLst/>
          </a:prstGeom>
        </p:spPr>
      </p:pic>
      <p:sp>
        <p:nvSpPr>
          <p:cNvPr id="24" name="Project Content"/>
          <p:cNvSpPr txBox="1"/>
          <p:nvPr/>
        </p:nvSpPr>
        <p:spPr>
          <a:xfrm>
            <a:off x="820000" y="12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Combines multiple indicators instead of relying on only temperature or rainfall.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Modular architecture separates frontend, backend API, and ML prediction service.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Interactive visualization helps users understand risk level and trend changes quickly.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Alert threshold logic can notify registered users during high-risk predictions.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Works locally even without MongoDB or live weather API by using fallback behavior.</a:t>
            </a:r>
            <a:endParaRPr lang="en-US" sz="2100" dirty="0"/>
          </a:p>
        </p:txBody>
      </p:sp>
    </p:spTree>
    <p:extLst>
      <p:ext uri="{BB962C8B-B14F-4D97-AF65-F5344CB8AC3E}">
        <ns4:creationId val="238142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ns3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546" y="6379724"/>
            <a:ext cx="2237295" cy="35722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AGPIT, SOLAPUR</a:t>
            </a:r>
            <a:endParaRPr lang="en-IN" sz="12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90185"/>
            <a:ext cx="9144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0" y="6608189"/>
            <a:ext cx="9144000" cy="147391"/>
          </a:xfrm>
          <a:prstGeom prst="rect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8900" y="6436046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45868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2384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2805" y="194271"/>
            <a:ext cx="31943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IN" sz="26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805" y="194271"/>
            <a:ext cx="3194355" cy="414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100" b="1" dirty="0" smtClean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</a:rPr>
              <a:t>LIMITATIONS</a:t>
            </a:r>
            <a:endParaRPr lang="en-US" sz="2100" b="1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086600" y="6319470"/>
            <a:ext cx="2057400" cy="365125"/>
          </a:xfrm>
        </p:spPr>
        <p:txBody>
          <a:bodyPr/>
          <a:lstStyle/>
          <a:p>
            <a:fld id="{666EBBAE-8C2A-4605-AE0E-40AA8A2B9D18}" type="slidenum">
              <a:rPr lang="en-IN" smtClean="0">
                <a:solidFill>
                  <a:schemeClr val="bg1"/>
                </a:solidFill>
              </a:rPr>
              <a:t>12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8316223" y="10886"/>
            <a:ext cx="612321" cy="609600"/>
          </a:xfrm>
          <a:prstGeom prst="rect">
            <a:avLst/>
          </a:prstGeom>
        </p:spPr>
      </p:pic>
      <p:sp>
        <p:nvSpPr>
          <p:cNvPr id="24" name="Project Content"/>
          <p:cNvSpPr txBox="1"/>
          <p:nvPr/>
        </p:nvSpPr>
        <p:spPr>
          <a:xfrm>
            <a:off x="820000" y="12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Current dataset is synthetic and should be replaced with verified regional disaster records before real deployment.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Environmental and seismic indicators are partly mocked, so operational accuracy is limited.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Prediction quality depends on model retraining, data freshness, and class balance.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Email alerts require valid SMTP credentials and registered users for the city.</a:t>
            </a:r>
            <a:endParaRPr lang="en-US" sz="2100" dirty="0"/>
          </a:p>
          <a:p>
            <a:pPr marL="285750" indent="-228600">
              <a:buChar char="?"/>
            </a:pPr>
            <a:r>
              <a:rPr lang="en-US" sz="2100" dirty="0">
                <a:solidFill>
                  <a:srgbClr val="1F2937"/>
                </a:solidFill>
              </a:rPr>
              <a:t>The system is a prototype and should support, not replace, official disaster-management decisions.</a:t>
            </a:r>
            <a:endParaRPr lang="en-US" sz="2100" dirty="0"/>
          </a:p>
        </p:txBody>
      </p:sp>
    </p:spTree>
    <p:extLst>
      <p:ext uri="{BB962C8B-B14F-4D97-AF65-F5344CB8AC3E}">
        <ns4:creationId val="426061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ns2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546" y="6379724"/>
            <a:ext cx="2237295" cy="35722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AGPIT, SOLAPUR</a:t>
            </a:r>
            <a:endParaRPr lang="en-IN" sz="12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90185"/>
            <a:ext cx="9144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0" y="6608189"/>
            <a:ext cx="9144000" cy="147391"/>
          </a:xfrm>
          <a:prstGeom prst="rect">
            <a:avLst/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8900" y="6436046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45868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22384" y="6426359"/>
            <a:ext cx="188536" cy="1319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IN">
              <a:solidFill>
                <a:prstClr val="white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128880" y="6319470"/>
            <a:ext cx="2057400" cy="365125"/>
          </a:xfrm>
        </p:spPr>
        <p:txBody>
          <a:bodyPr/>
          <a:lstStyle/>
          <a:p>
            <a:fld id="{666EBBAE-8C2A-4605-AE0E-40AA8A2B9D18}" type="slidenum">
              <a:rPr lang="en-IN" smtClean="0">
                <a:solidFill>
                  <a:schemeClr val="bg1"/>
                </a:solidFill>
              </a:rPr>
              <a:t>13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2400" y="115706"/>
            <a:ext cx="8449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dirty="0"/>
              <a:t/>
            </a:r>
          </a:p>
        </p:txBody>
      </p:sp>
      <p:sp>
        <p:nvSpPr>
          <p:cNvPr id="9" name="AutoShape 2" descr="Image of 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ns2:hiddenFill>
                <a:solidFill>
                  <a:srgbClr val="FFFFFF"/>
                </a:solidFill>
              </ns2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ns2:useLocalDpi val="0"/>
              </a:ext>
            </a:extLst>
          </a:blip>
          <a:srcRect t="31270" b="41111"/>
          <a:stretch/>
        </p:blipFill>
        <p:spPr>
          <a:xfrm>
            <a:off x="0" y="3231581"/>
            <a:ext cx="9144000" cy="22214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2:useLocalDpi val="0"/>
              </a:ext>
            </a:extLst>
          </a:blip>
          <a:stretch>
            <a:fillRect/>
          </a:stretch>
        </p:blipFill>
        <p:spPr>
          <a:xfrm>
            <a:off x="8316223" y="10886"/>
            <a:ext cx="612321" cy="609600"/>
          </a:xfrm>
          <a:prstGeom prst="rect">
            <a:avLst/>
          </a:prstGeom>
        </p:spPr>
      </p:pic>
      <p:sp>
        <p:nvSpPr>
          <p:cNvPr id="16" name="Conclusion Content"/>
          <p:cNvSpPr txBox="1"/>
          <p:nvPr/>
        </p:nvSpPr>
        <p:spPr>
          <a:xfrm>
            <a:off x="760000" y="1450000"/>
            <a:ext cx="7700000" cy="38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en-US" sz="2400" dirty="0" b="1">
                <a:solidFill>
                  <a:srgbClr val="1F2937"/>
                </a:solidFill>
              </a:rPr>
              <a:t>Conclusion</a:t>
            </a:r>
            <a:endParaRPr lang="en-US" sz="2400" dirty="0"/>
          </a:p>
          <a:p>
            <a:pPr/>
            <a:r>
              <a:rPr lang="en-US" sz="2400" dirty="0">
                <a:solidFill>
                  <a:srgbClr val="1F2937"/>
                </a:solidFill>
              </a:rPr>
              <a:t>The Natural Disaster Prediction System demonstrates an integrated approach for disaster-risk estimation using weather, environmental, and seismic indicators.</a:t>
            </a:r>
            <a:endParaRPr lang="en-US" sz="2400" dirty="0"/>
          </a:p>
          <a:p>
            <a:pPr/>
            <a:r>
              <a:rPr lang="en-US" sz="2400" dirty="0">
                <a:solidFill>
                  <a:srgbClr val="1F2937"/>
                </a:solidFill>
              </a:rPr>
              <a:t>It connects a React dashboard, Express API, MongoDB storage, email alerting, and a FastAPI machine-learning model into one working prototype.</a:t>
            </a:r>
            <a:endParaRPr lang="en-US" sz="2400" dirty="0"/>
          </a:p>
          <a:p>
            <a:pPr/>
            <a:r>
              <a:rPr lang="en-US" sz="2400" dirty="0">
                <a:solidFill>
                  <a:srgbClr val="1F2937"/>
                </a:solidFill>
              </a:rPr>
              <a:t>With verified datasets and official data feeds, the system can be extended into a practical early-warning and decision-support platform.</a:t>
            </a:r>
            <a:endParaRPr lang="en-US" sz="2400" dirty="0"/>
          </a:p>
        </p:txBody>
      </p:sp>
    </p:spTree>
    <p:extLst>
      <p:ext uri="{BB962C8B-B14F-4D97-AF65-F5344CB8AC3E}">
        <ns4:creationId val="3730069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3091</TotalTime>
  <Words>143</Words>
  <Application>Microsoft Office PowerPoint</Application>
  <PresentationFormat>On-screen Show (4:3)</PresentationFormat>
  <Paragraphs>58</Paragraphs>
  <Slides>13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Office Theme</vt:lpstr>
      <vt:lpstr>1_Office Theme</vt:lpstr>
      <vt:lpstr>  A PRESENTATION  ON “TITLE OF THE PROJECT” Submitted for the fulfillment of Mini-Project-Phase-II BE-CSE(III), 2026 A. G. Patil Institute of Technology, Solapur by GROUP MEMBER NAMES (Team Leader) (Team Members)   </vt:lpstr>
      <vt:lpstr> 1. PROBLEM STATEMENT 2. OBJECTIVES 3. EXISTING SYSTEM 4. PROPOSED SYSTEM 5. SYSTEM ARCHITECTURE 6. TECHNOLOGIES USED 7. METHODOLOGIES 8. APPLICATIONS 9. ADVANTAGES 10. LIMITATIONS.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GLADIATOR</dc:creator>
  <cp:lastModifiedBy>Prajyot</cp:lastModifiedBy>
  <cp:revision>563</cp:revision>
  <dcterms:created xsi:type="dcterms:W3CDTF">2006-08-16T00:00:00Z</dcterms:created>
  <dcterms:modified xsi:type="dcterms:W3CDTF">2026-03-04T09:02:46Z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7A9D539DF4BE4C2EB3B9354D79A1712E_13</vt:lpwstr>
  </property>
  <property fmtid="{D5CDD505-2E9C-101B-9397-08002B2CF9AE}" pid="3" name="KSOProductBuildVer">
    <vt:lpwstr>1033-12.2.0.23196</vt:lpwstr>
  </property>
</Properties>
</file>